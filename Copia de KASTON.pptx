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swald" charset="1" panose="00000500000000000000"/>
      <p:regular r:id="rId17"/>
    </p:embeddedFont>
    <p:embeddedFont>
      <p:font typeface="Oswald Bold" charset="1" panose="00000800000000000000"/>
      <p:regular r:id="rId18"/>
    </p:embeddedFont>
    <p:embeddedFont>
      <p:font typeface="Now" charset="1" panose="00000500000000000000"/>
      <p:regular r:id="rId19"/>
    </p:embeddedFont>
    <p:embeddedFont>
      <p:font typeface="Now Bold" charset="1" panose="00000800000000000000"/>
      <p:regular r:id="rId20"/>
    </p:embeddedFont>
    <p:embeddedFont>
      <p:font typeface="Now Light" charset="1" panose="00000400000000000000"/>
      <p:regular r:id="rId21"/>
    </p:embeddedFont>
    <p:embeddedFont>
      <p:font typeface="Gotham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10.png" Type="http://schemas.openxmlformats.org/officeDocument/2006/relationships/image"/><Relationship Id="rId7" Target="https://wa.me/573054719267?text=Hola%2C%20quiero%20m%C3%A1s%20informaci%C3%B3n%20de%20Kaston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12873" y="6841456"/>
            <a:ext cx="6262255" cy="1736436"/>
          </a:xfrm>
          <a:custGeom>
            <a:avLst/>
            <a:gdLst/>
            <a:ahLst/>
            <a:cxnLst/>
            <a:rect r="r" b="b" t="t" l="l"/>
            <a:pathLst>
              <a:path h="1736436" w="6262255">
                <a:moveTo>
                  <a:pt x="0" y="0"/>
                </a:moveTo>
                <a:lnTo>
                  <a:pt x="6262254" y="0"/>
                </a:lnTo>
                <a:lnTo>
                  <a:pt x="6262254" y="1736436"/>
                </a:lnTo>
                <a:lnTo>
                  <a:pt x="0" y="1736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429" t="-114167" r="-31242" b="-12799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1204" y="4119245"/>
            <a:ext cx="11825591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La primera cubierta de polímero recuperado diseñada para durar 500 años.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5336494"/>
            <a:ext cx="3330126" cy="333012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>
                <a:alphaModFix amt="75000"/>
              </a:blip>
              <a:stretch>
                <a:fillRect l="-9801" t="-2173" r="-1605" b="-923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929174" y="5336494"/>
            <a:ext cx="3330126" cy="33301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>
                <a:alphaModFix amt="75000"/>
              </a:blip>
              <a:stretch>
                <a:fillRect l="0" t="-7444" r="-744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572647" y="2096186"/>
            <a:ext cx="13142706" cy="153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true">
                <a:solidFill>
                  <a:srgbClr val="F4F4F4"/>
                </a:solidFill>
                <a:latin typeface="Oswald Bold"/>
                <a:ea typeface="Oswald Bold"/>
                <a:cs typeface="Oswald Bold"/>
                <a:sym typeface="Oswald Bold"/>
              </a:rPr>
              <a:t>INNOVACIÓN PARA </a:t>
            </a:r>
            <a:r>
              <a:rPr lang="en-US" sz="9000" b="true">
                <a:solidFill>
                  <a:srgbClr val="C18A68"/>
                </a:solidFill>
                <a:latin typeface="Oswald Bold"/>
                <a:ea typeface="Oswald Bold"/>
                <a:cs typeface="Oswald Bold"/>
                <a:sym typeface="Oswald Bold"/>
              </a:rPr>
              <a:t>SIEMPRE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49917" y="8815710"/>
            <a:ext cx="618767" cy="885180"/>
          </a:xfrm>
          <a:custGeom>
            <a:avLst/>
            <a:gdLst/>
            <a:ahLst/>
            <a:cxnLst/>
            <a:rect r="r" b="b" t="t" l="l"/>
            <a:pathLst>
              <a:path h="885180" w="618767">
                <a:moveTo>
                  <a:pt x="0" y="0"/>
                </a:moveTo>
                <a:lnTo>
                  <a:pt x="618766" y="0"/>
                </a:lnTo>
                <a:lnTo>
                  <a:pt x="618766" y="885180"/>
                </a:lnTo>
                <a:lnTo>
                  <a:pt x="0" y="88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1643" t="-33653" r="-163021" b="-3332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793932"/>
            <a:ext cx="952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34095" y="2604780"/>
            <a:ext cx="16429334" cy="253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"TODO LO QUE HAS COMPRADO EN TU VIDA, </a:t>
            </a:r>
            <a:r>
              <a:rPr lang="en-US" b="true" sz="730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TODAVÍA EXISTE EN LA TIERRA HOY EN DÍA."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39044" y="6213915"/>
            <a:ext cx="1120991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EL PLÁSTICO ES ETERNO.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48569" y="7134465"/>
            <a:ext cx="1120991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EN </a:t>
            </a:r>
            <a:r>
              <a:rPr lang="en-US" b="true" sz="360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KASTON</a:t>
            </a:r>
            <a:r>
              <a:rPr lang="en-US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DECIDIMOS QUE TU TECHO TAMBIÉN DEBERÍA SERLO.</a:t>
            </a: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8965" y="5679525"/>
            <a:ext cx="1350108" cy="1350108"/>
          </a:xfrm>
          <a:custGeom>
            <a:avLst/>
            <a:gdLst/>
            <a:ahLst/>
            <a:cxnLst/>
            <a:rect r="r" b="b" t="t" l="l"/>
            <a:pathLst>
              <a:path h="1350108" w="1350108">
                <a:moveTo>
                  <a:pt x="0" y="0"/>
                </a:moveTo>
                <a:lnTo>
                  <a:pt x="1350108" y="0"/>
                </a:lnTo>
                <a:lnTo>
                  <a:pt x="1350108" y="1350107"/>
                </a:lnTo>
                <a:lnTo>
                  <a:pt x="0" y="1350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49917" y="8815710"/>
            <a:ext cx="618767" cy="885180"/>
          </a:xfrm>
          <a:custGeom>
            <a:avLst/>
            <a:gdLst/>
            <a:ahLst/>
            <a:cxnLst/>
            <a:rect r="r" b="b" t="t" l="l"/>
            <a:pathLst>
              <a:path h="885180" w="618767">
                <a:moveTo>
                  <a:pt x="0" y="0"/>
                </a:moveTo>
                <a:lnTo>
                  <a:pt x="618766" y="0"/>
                </a:lnTo>
                <a:lnTo>
                  <a:pt x="618766" y="885180"/>
                </a:lnTo>
                <a:lnTo>
                  <a:pt x="0" y="8851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1643" t="-33653" r="-163021" b="-3332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441474" y="2722792"/>
            <a:ext cx="3817826" cy="5913466"/>
            <a:chOff x="0" y="0"/>
            <a:chExt cx="591481" cy="9161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1481" cy="916151"/>
            </a:xfrm>
            <a:custGeom>
              <a:avLst/>
              <a:gdLst/>
              <a:ahLst/>
              <a:cxnLst/>
              <a:rect r="r" b="b" t="t" l="l"/>
              <a:pathLst>
                <a:path h="916151" w="591481">
                  <a:moveTo>
                    <a:pt x="0" y="0"/>
                  </a:moveTo>
                  <a:lnTo>
                    <a:pt x="591481" y="0"/>
                  </a:lnTo>
                  <a:lnTo>
                    <a:pt x="591481" y="916151"/>
                  </a:lnTo>
                  <a:lnTo>
                    <a:pt x="0" y="916151"/>
                  </a:lnTo>
                  <a:close/>
                </a:path>
              </a:pathLst>
            </a:custGeom>
            <a:blipFill>
              <a:blip r:embed="rId6">
                <a:alphaModFix amt="75000"/>
              </a:blip>
              <a:stretch>
                <a:fillRect l="-41051" t="0" r="-13839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88965" y="857250"/>
            <a:ext cx="13578550" cy="154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EL PROBLEMA TRADICIONAL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39238" y="4803457"/>
            <a:ext cx="952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703960" y="5622375"/>
            <a:ext cx="8412361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Se quiebran solo con el transporte o granizo.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Absorben humedad, creando moho y goteras.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Pesan toneladas, exigiendo estructuras costosas.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39238" y="4946332"/>
            <a:ext cx="95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88965" y="3507740"/>
            <a:ext cx="10607227" cy="98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Las tejas de barro y fibrocemento tienen una falla de diseño fundamental: </a:t>
            </a:r>
            <a:r>
              <a:rPr lang="en-US" sz="2799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son frágiles.</a:t>
            </a:r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49917" y="8815710"/>
            <a:ext cx="618767" cy="885180"/>
          </a:xfrm>
          <a:custGeom>
            <a:avLst/>
            <a:gdLst/>
            <a:ahLst/>
            <a:cxnLst/>
            <a:rect r="r" b="b" t="t" l="l"/>
            <a:pathLst>
              <a:path h="885180" w="618767">
                <a:moveTo>
                  <a:pt x="0" y="0"/>
                </a:moveTo>
                <a:lnTo>
                  <a:pt x="618766" y="0"/>
                </a:lnTo>
                <a:lnTo>
                  <a:pt x="618766" y="885180"/>
                </a:lnTo>
                <a:lnTo>
                  <a:pt x="0" y="88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1643" t="-33653" r="-163021" b="-3332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59348" y="1049781"/>
            <a:ext cx="11369305" cy="2623185"/>
            <a:chOff x="0" y="0"/>
            <a:chExt cx="1761403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61403" cy="406400"/>
            </a:xfrm>
            <a:custGeom>
              <a:avLst/>
              <a:gdLst/>
              <a:ahLst/>
              <a:cxnLst/>
              <a:rect r="r" b="b" t="t" l="l"/>
              <a:pathLst>
                <a:path h="406400" w="1761403">
                  <a:moveTo>
                    <a:pt x="0" y="0"/>
                  </a:moveTo>
                  <a:lnTo>
                    <a:pt x="1761403" y="0"/>
                  </a:lnTo>
                  <a:lnTo>
                    <a:pt x="1761403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4">
                <a:alphaModFix amt="35000"/>
              </a:blip>
              <a:stretch>
                <a:fillRect l="-7372" t="-82096" r="-5192" b="-305777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271098" y="5086350"/>
            <a:ext cx="13745803" cy="296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El plástico es el material más resistente jamás creado por el humano. Irónicamente, lo </a:t>
            </a: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usamos para cosas </a:t>
            </a:r>
            <a:r>
              <a:rPr lang="en-US" sz="2799">
                <a:solidFill>
                  <a:srgbClr val="C18A68"/>
                </a:solidFill>
                <a:latin typeface="Now"/>
                <a:ea typeface="Now"/>
                <a:cs typeface="Now"/>
                <a:sym typeface="Now"/>
              </a:rPr>
              <a:t>desechables.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En </a:t>
            </a:r>
            <a:r>
              <a:rPr lang="en-US" b="true" sz="27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KASTON</a:t>
            </a: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corregimos ese error.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Rescatamos polímeros industriales de alto rendimiento y los transformamos en un sistema de cubierta que no se degrada, no se oxida y es indestructible.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92551" y="1513648"/>
            <a:ext cx="8902898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LA MATERIA PRIMA</a:t>
            </a: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32242" y="4112979"/>
            <a:ext cx="1246191" cy="1024992"/>
          </a:xfrm>
          <a:custGeom>
            <a:avLst/>
            <a:gdLst/>
            <a:ahLst/>
            <a:cxnLst/>
            <a:rect r="r" b="b" t="t" l="l"/>
            <a:pathLst>
              <a:path h="1024992" w="1246191">
                <a:moveTo>
                  <a:pt x="0" y="0"/>
                </a:moveTo>
                <a:lnTo>
                  <a:pt x="1246191" y="0"/>
                </a:lnTo>
                <a:lnTo>
                  <a:pt x="1246191" y="1024992"/>
                </a:lnTo>
                <a:lnTo>
                  <a:pt x="0" y="102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09661" y="4067110"/>
            <a:ext cx="1246002" cy="1116730"/>
          </a:xfrm>
          <a:custGeom>
            <a:avLst/>
            <a:gdLst/>
            <a:ahLst/>
            <a:cxnLst/>
            <a:rect r="r" b="b" t="t" l="l"/>
            <a:pathLst>
              <a:path h="1116730" w="1246002">
                <a:moveTo>
                  <a:pt x="0" y="0"/>
                </a:moveTo>
                <a:lnTo>
                  <a:pt x="1246002" y="0"/>
                </a:lnTo>
                <a:lnTo>
                  <a:pt x="1246002" y="1116729"/>
                </a:lnTo>
                <a:lnTo>
                  <a:pt x="0" y="1116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08491" y="3601852"/>
            <a:ext cx="1359302" cy="2047245"/>
          </a:xfrm>
          <a:custGeom>
            <a:avLst/>
            <a:gdLst/>
            <a:ahLst/>
            <a:cxnLst/>
            <a:rect r="r" b="b" t="t" l="l"/>
            <a:pathLst>
              <a:path h="2047245" w="1359302">
                <a:moveTo>
                  <a:pt x="0" y="0"/>
                </a:moveTo>
                <a:lnTo>
                  <a:pt x="1359302" y="0"/>
                </a:lnTo>
                <a:lnTo>
                  <a:pt x="1359302" y="2047245"/>
                </a:lnTo>
                <a:lnTo>
                  <a:pt x="0" y="2047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4021" t="-14174" r="-116824" b="-1685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55551" y="3601852"/>
            <a:ext cx="1359302" cy="2047245"/>
          </a:xfrm>
          <a:custGeom>
            <a:avLst/>
            <a:gdLst/>
            <a:ahLst/>
            <a:cxnLst/>
            <a:rect r="r" b="b" t="t" l="l"/>
            <a:pathLst>
              <a:path h="2047245" w="1359302">
                <a:moveTo>
                  <a:pt x="0" y="0"/>
                </a:moveTo>
                <a:lnTo>
                  <a:pt x="1359301" y="0"/>
                </a:lnTo>
                <a:lnTo>
                  <a:pt x="1359301" y="2047245"/>
                </a:lnTo>
                <a:lnTo>
                  <a:pt x="0" y="2047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4021" t="-14174" r="-116824" b="-1685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95350"/>
            <a:ext cx="11498675" cy="253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sz="729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LA FORMA SIGUE A LA FUNCIÓN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09318" y="5763397"/>
            <a:ext cx="4688714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Su terminación curva y superficie plana aceleran la evacuación del agua, evitando empozamientos y filtraciones muy comunes en las tejas curvas coloniales.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40599" y="5755076"/>
            <a:ext cx="4826153" cy="3503224"/>
            <a:chOff x="0" y="0"/>
            <a:chExt cx="1271085" cy="9226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1085" cy="922660"/>
            </a:xfrm>
            <a:custGeom>
              <a:avLst/>
              <a:gdLst/>
              <a:ahLst/>
              <a:cxnLst/>
              <a:rect r="r" b="b" t="t" l="l"/>
              <a:pathLst>
                <a:path h="922660" w="1271085">
                  <a:moveTo>
                    <a:pt x="0" y="0"/>
                  </a:moveTo>
                  <a:lnTo>
                    <a:pt x="1271085" y="0"/>
                  </a:lnTo>
                  <a:lnTo>
                    <a:pt x="1271085" y="922660"/>
                  </a:lnTo>
                  <a:lnTo>
                    <a:pt x="0" y="92266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71085" cy="960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60602" y="5898410"/>
            <a:ext cx="4589473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El diseño "Cola de Castor" no es solo estética. Es una solución de ingeniería natural.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38965" y="5737914"/>
            <a:ext cx="4588433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Además, al ser piezas individuales compactas, crean una "piel" adaptable a cualquier diseño de techo.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37926" y="5755076"/>
            <a:ext cx="4589473" cy="2485357"/>
            <a:chOff x="0" y="0"/>
            <a:chExt cx="1208750" cy="6545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8750" cy="654580"/>
            </a:xfrm>
            <a:custGeom>
              <a:avLst/>
              <a:gdLst/>
              <a:ahLst/>
              <a:cxnLst/>
              <a:rect r="r" b="b" t="t" l="l"/>
              <a:pathLst>
                <a:path h="654580" w="1208750">
                  <a:moveTo>
                    <a:pt x="0" y="0"/>
                  </a:moveTo>
                  <a:lnTo>
                    <a:pt x="1208750" y="0"/>
                  </a:lnTo>
                  <a:lnTo>
                    <a:pt x="1208750" y="654580"/>
                  </a:lnTo>
                  <a:lnTo>
                    <a:pt x="0" y="654580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08750" cy="692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365251" y="3601852"/>
            <a:ext cx="1359302" cy="2047245"/>
          </a:xfrm>
          <a:custGeom>
            <a:avLst/>
            <a:gdLst/>
            <a:ahLst/>
            <a:cxnLst/>
            <a:rect r="r" b="b" t="t" l="l"/>
            <a:pathLst>
              <a:path h="2047245" w="1359302">
                <a:moveTo>
                  <a:pt x="0" y="0"/>
                </a:moveTo>
                <a:lnTo>
                  <a:pt x="1359302" y="0"/>
                </a:lnTo>
                <a:lnTo>
                  <a:pt x="1359302" y="2047245"/>
                </a:lnTo>
                <a:lnTo>
                  <a:pt x="0" y="2047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4021" t="-14174" r="-116824" b="-1685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949917" y="8815710"/>
            <a:ext cx="618767" cy="885180"/>
          </a:xfrm>
          <a:custGeom>
            <a:avLst/>
            <a:gdLst/>
            <a:ahLst/>
            <a:cxnLst/>
            <a:rect r="r" b="b" t="t" l="l"/>
            <a:pathLst>
              <a:path h="885180" w="618767">
                <a:moveTo>
                  <a:pt x="0" y="0"/>
                </a:moveTo>
                <a:lnTo>
                  <a:pt x="618766" y="0"/>
                </a:lnTo>
                <a:lnTo>
                  <a:pt x="618766" y="885180"/>
                </a:lnTo>
                <a:lnTo>
                  <a:pt x="0" y="8851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61643" t="-33653" r="-163021" b="-33326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60602" y="5755076"/>
            <a:ext cx="4589473" cy="2311048"/>
            <a:chOff x="0" y="0"/>
            <a:chExt cx="1208750" cy="608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8750" cy="608671"/>
            </a:xfrm>
            <a:custGeom>
              <a:avLst/>
              <a:gdLst/>
              <a:ahLst/>
              <a:cxnLst/>
              <a:rect r="r" b="b" t="t" l="l"/>
              <a:pathLst>
                <a:path h="608671" w="1208750">
                  <a:moveTo>
                    <a:pt x="0" y="0"/>
                  </a:moveTo>
                  <a:lnTo>
                    <a:pt x="1208750" y="0"/>
                  </a:lnTo>
                  <a:lnTo>
                    <a:pt x="1208750" y="608671"/>
                  </a:lnTo>
                  <a:lnTo>
                    <a:pt x="0" y="608671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08750" cy="646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slow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80427" y="6220001"/>
            <a:ext cx="638483" cy="635000"/>
          </a:xfrm>
          <a:custGeom>
            <a:avLst/>
            <a:gdLst/>
            <a:ahLst/>
            <a:cxnLst/>
            <a:rect r="r" b="b" t="t" l="l"/>
            <a:pathLst>
              <a:path h="635000" w="638483">
                <a:moveTo>
                  <a:pt x="638483" y="0"/>
                </a:moveTo>
                <a:lnTo>
                  <a:pt x="0" y="0"/>
                </a:lnTo>
                <a:lnTo>
                  <a:pt x="0" y="635000"/>
                </a:lnTo>
                <a:lnTo>
                  <a:pt x="638483" y="635000"/>
                </a:lnTo>
                <a:lnTo>
                  <a:pt x="6384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874260"/>
            <a:ext cx="952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5897880" y="5462333"/>
            <a:ext cx="64922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45248" y="6215115"/>
            <a:ext cx="822185" cy="548622"/>
          </a:xfrm>
          <a:custGeom>
            <a:avLst/>
            <a:gdLst/>
            <a:ahLst/>
            <a:cxnLst/>
            <a:rect r="r" b="b" t="t" l="l"/>
            <a:pathLst>
              <a:path h="548622" w="822185">
                <a:moveTo>
                  <a:pt x="0" y="0"/>
                </a:moveTo>
                <a:lnTo>
                  <a:pt x="822184" y="0"/>
                </a:lnTo>
                <a:lnTo>
                  <a:pt x="822184" y="548621"/>
                </a:lnTo>
                <a:lnTo>
                  <a:pt x="0" y="548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44815" y="866775"/>
            <a:ext cx="7807896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SISTEMA </a:t>
            </a:r>
            <a:r>
              <a:rPr lang="en-US" sz="9000" b="true">
                <a:solidFill>
                  <a:srgbClr val="C18A68"/>
                </a:solidFill>
                <a:latin typeface="Oswald Bold"/>
                <a:ea typeface="Oswald Bold"/>
                <a:cs typeface="Oswald Bold"/>
                <a:sym typeface="Oswald Bold"/>
              </a:rPr>
              <a:t>K-LOCK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52354" y="2675318"/>
            <a:ext cx="10383292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COMO UN LEGO, PERO INDESTRUCTIBLE.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86622" y="4018978"/>
            <a:ext cx="10314756" cy="98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Lo q</a:t>
            </a: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ue hace única a </a:t>
            </a:r>
            <a:r>
              <a:rPr lang="en-US" b="true" sz="27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KASTON</a:t>
            </a: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es su ingeniería de conexión. 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Olvídate de tejas sueltas que vuelan con el viento.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71344" y="6134276"/>
            <a:ext cx="5668789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SISTEMA MACHO/HEMBRA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0427" y="7159994"/>
            <a:ext cx="721289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Cada teja tiene una pestaña lateral (macho) y una ranura receptora (hembra). Al unirse, quedan mecánicamente bloqueadas entre sí.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19832" y="6083477"/>
            <a:ext cx="4445719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RESISTENCIA EÓLICA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45248" y="7035976"/>
            <a:ext cx="705280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Gracias a este encaje y sus dos puntos de anclaje a la malla, eliminamos el riesgo de desprendimiento por vientos fuertes.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949917" y="8815710"/>
            <a:ext cx="618767" cy="885180"/>
          </a:xfrm>
          <a:custGeom>
            <a:avLst/>
            <a:gdLst/>
            <a:ahLst/>
            <a:cxnLst/>
            <a:rect r="r" b="b" t="t" l="l"/>
            <a:pathLst>
              <a:path h="885180" w="618767">
                <a:moveTo>
                  <a:pt x="0" y="0"/>
                </a:moveTo>
                <a:lnTo>
                  <a:pt x="618766" y="0"/>
                </a:lnTo>
                <a:lnTo>
                  <a:pt x="618766" y="885180"/>
                </a:lnTo>
                <a:lnTo>
                  <a:pt x="0" y="8851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1643" t="-33653" r="-163021" b="-33326"/>
            </a:stretch>
          </a:blipFill>
        </p:spPr>
      </p:sp>
    </p:spTree>
  </p:cSld>
  <p:clrMapOvr>
    <a:masterClrMapping/>
  </p:clrMapOvr>
  <p:transition spd="slow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7675" y="3076020"/>
            <a:ext cx="4731762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¿Granizo? ¿Pisar el techo?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¿Golpes? Nuestras tejas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absorben el impacto sin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quebrarse. Cero mermas.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29797" y="3049291"/>
            <a:ext cx="5252074" cy="2615567"/>
            <a:chOff x="0" y="0"/>
            <a:chExt cx="1383262" cy="688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3262" cy="688874"/>
            </a:xfrm>
            <a:custGeom>
              <a:avLst/>
              <a:gdLst/>
              <a:ahLst/>
              <a:cxnLst/>
              <a:rect r="r" b="b" t="t" l="l"/>
              <a:pathLst>
                <a:path h="688874" w="1383262">
                  <a:moveTo>
                    <a:pt x="0" y="0"/>
                  </a:moveTo>
                  <a:lnTo>
                    <a:pt x="1383262" y="0"/>
                  </a:lnTo>
                  <a:lnTo>
                    <a:pt x="1383262" y="688874"/>
                  </a:lnTo>
                  <a:lnTo>
                    <a:pt x="0" y="688874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83262" cy="726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2287" y="3049291"/>
            <a:ext cx="5022538" cy="2077838"/>
            <a:chOff x="0" y="0"/>
            <a:chExt cx="1322808" cy="547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2808" cy="547249"/>
            </a:xfrm>
            <a:custGeom>
              <a:avLst/>
              <a:gdLst/>
              <a:ahLst/>
              <a:cxnLst/>
              <a:rect r="r" b="b" t="t" l="l"/>
              <a:pathLst>
                <a:path h="547249" w="1322808">
                  <a:moveTo>
                    <a:pt x="0" y="0"/>
                  </a:moveTo>
                  <a:lnTo>
                    <a:pt x="1322808" y="0"/>
                  </a:lnTo>
                  <a:lnTo>
                    <a:pt x="1322808" y="547249"/>
                  </a:lnTo>
                  <a:lnTo>
                    <a:pt x="0" y="547249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22808" cy="585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94065" y="3097234"/>
            <a:ext cx="4541648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 diferencia del Zinc que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convierte tu casa en un horno, nuestro polimero denso aísla mejor la temperatura y el ruido.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481946" y="3070505"/>
            <a:ext cx="4653767" cy="2615567"/>
            <a:chOff x="0" y="0"/>
            <a:chExt cx="1225684" cy="688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5684" cy="688874"/>
            </a:xfrm>
            <a:custGeom>
              <a:avLst/>
              <a:gdLst/>
              <a:ahLst/>
              <a:cxnLst/>
              <a:rect r="r" b="b" t="t" l="l"/>
              <a:pathLst>
                <a:path h="688874" w="1225684">
                  <a:moveTo>
                    <a:pt x="0" y="0"/>
                  </a:moveTo>
                  <a:lnTo>
                    <a:pt x="1225684" y="0"/>
                  </a:lnTo>
                  <a:lnTo>
                    <a:pt x="1225684" y="688874"/>
                  </a:lnTo>
                  <a:lnTo>
                    <a:pt x="0" y="688874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25684" cy="726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949917" y="8815710"/>
            <a:ext cx="618767" cy="885180"/>
          </a:xfrm>
          <a:custGeom>
            <a:avLst/>
            <a:gdLst/>
            <a:ahLst/>
            <a:cxnLst/>
            <a:rect r="r" b="b" t="t" l="l"/>
            <a:pathLst>
              <a:path h="885180" w="618767">
                <a:moveTo>
                  <a:pt x="0" y="0"/>
                </a:moveTo>
                <a:lnTo>
                  <a:pt x="618766" y="0"/>
                </a:lnTo>
                <a:lnTo>
                  <a:pt x="618766" y="885180"/>
                </a:lnTo>
                <a:lnTo>
                  <a:pt x="0" y="88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1643" t="-33653" r="-163021" b="-3332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2814225">
            <a:off x="12745213" y="6599008"/>
            <a:ext cx="1984024" cy="1790581"/>
          </a:xfrm>
          <a:custGeom>
            <a:avLst/>
            <a:gdLst/>
            <a:ahLst/>
            <a:cxnLst/>
            <a:rect r="r" b="b" t="t" l="l"/>
            <a:pathLst>
              <a:path h="1790581" w="1984024">
                <a:moveTo>
                  <a:pt x="0" y="0"/>
                </a:moveTo>
                <a:lnTo>
                  <a:pt x="1984024" y="0"/>
                </a:lnTo>
                <a:lnTo>
                  <a:pt x="1984024" y="1790581"/>
                </a:lnTo>
                <a:lnTo>
                  <a:pt x="0" y="17905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700633" y="3118449"/>
            <a:ext cx="5110402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Mucho más livianas que el barro o el cemento, reduciendo costos en la estructura de madera o metal de tu casa.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72109" y="6844004"/>
            <a:ext cx="871226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BLINDAJE TOTAL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52986" y="1899071"/>
            <a:ext cx="3482727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AISLAMIENTO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38978" y="1899071"/>
            <a:ext cx="2433712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LIGEREZA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2287" y="1899071"/>
            <a:ext cx="438231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INDESTRUCTIBLE</a:t>
            </a:r>
          </a:p>
        </p:txBody>
      </p:sp>
      <p:sp>
        <p:nvSpPr>
          <p:cNvPr name="Freeform 20" id="20"/>
          <p:cNvSpPr/>
          <p:nvPr/>
        </p:nvSpPr>
        <p:spPr>
          <a:xfrm flipH="true" flipV="true" rot="2397701">
            <a:off x="3786289" y="7482238"/>
            <a:ext cx="1984024" cy="1790581"/>
          </a:xfrm>
          <a:custGeom>
            <a:avLst/>
            <a:gdLst/>
            <a:ahLst/>
            <a:cxnLst/>
            <a:rect r="r" b="b" t="t" l="l"/>
            <a:pathLst>
              <a:path h="1790581" w="1984024">
                <a:moveTo>
                  <a:pt x="1984024" y="1790581"/>
                </a:moveTo>
                <a:lnTo>
                  <a:pt x="0" y="1790581"/>
                </a:lnTo>
                <a:lnTo>
                  <a:pt x="0" y="0"/>
                </a:lnTo>
                <a:lnTo>
                  <a:pt x="1984024" y="0"/>
                </a:lnTo>
                <a:lnTo>
                  <a:pt x="1984024" y="179058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3547" y="0"/>
            <a:ext cx="6584453" cy="10287000"/>
            <a:chOff x="0" y="0"/>
            <a:chExt cx="102010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010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20104">
                  <a:moveTo>
                    <a:pt x="0" y="0"/>
                  </a:moveTo>
                  <a:lnTo>
                    <a:pt x="1020104" y="0"/>
                  </a:lnTo>
                  <a:lnTo>
                    <a:pt x="102010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>
                <a:alphaModFix amt="40000"/>
              </a:blip>
              <a:stretch>
                <a:fillRect l="-13512" t="0" r="-4271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49917" y="8815710"/>
            <a:ext cx="618767" cy="885180"/>
          </a:xfrm>
          <a:custGeom>
            <a:avLst/>
            <a:gdLst/>
            <a:ahLst/>
            <a:cxnLst/>
            <a:rect r="r" b="b" t="t" l="l"/>
            <a:pathLst>
              <a:path h="885180" w="618767">
                <a:moveTo>
                  <a:pt x="0" y="0"/>
                </a:moveTo>
                <a:lnTo>
                  <a:pt x="618766" y="0"/>
                </a:lnTo>
                <a:lnTo>
                  <a:pt x="618766" y="885180"/>
                </a:lnTo>
                <a:lnTo>
                  <a:pt x="0" y="8851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1643" t="-33653" r="-163021" b="-3332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52317" y="2923464"/>
            <a:ext cx="1376446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SISTEMA DE MALLA: RÁPIDO Y SEGURO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6775"/>
            <a:ext cx="10049321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INS</a:t>
            </a:r>
            <a:r>
              <a:rPr lang="en-US" b="true" sz="900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TALACIÓN KASTON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2317" y="4994078"/>
            <a:ext cx="10092746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1. Se instala un manto asfáltico sobre la estructura para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impermeabilización total.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2. Se fija una malla electrosoldada estándar.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3. Las tejas Kaston se aseg</a:t>
            </a:r>
            <a:r>
              <a:rPr lang="en-US" sz="25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uran a la malla con alambre a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través de sus dos orificios de anclaje.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397875"/>
            <a:ext cx="1021636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</a:t>
            </a:r>
            <a:r>
              <a:rPr lang="en-US" sz="2500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Ventaja</a:t>
            </a:r>
            <a:r>
              <a:rPr lang="en-US" sz="25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: Si necesitas reparar el manto asfaltico, solo levantas la malla como la tapa de un baúl.</a:t>
            </a:r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460660" y="5542890"/>
            <a:ext cx="4135160" cy="0"/>
          </a:xfrm>
          <a:prstGeom prst="line">
            <a:avLst/>
          </a:prstGeom>
          <a:ln cap="flat" w="38100">
            <a:solidFill>
              <a:srgbClr val="FFFFF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2460734" y="6804812"/>
            <a:ext cx="4135087" cy="0"/>
          </a:xfrm>
          <a:prstGeom prst="line">
            <a:avLst/>
          </a:prstGeom>
          <a:ln cap="flat" w="38100">
            <a:solidFill>
              <a:srgbClr val="FFFFF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460734" y="4538286"/>
            <a:ext cx="748248" cy="74824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1C1C"/>
            </a:solidFill>
            <a:ln w="9525" cap="sq">
              <a:solidFill>
                <a:srgbClr val="8C8C8C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460734" y="5799727"/>
            <a:ext cx="748248" cy="74824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2723"/>
            </a:solidFill>
            <a:ln w="9525" cap="sq">
              <a:solidFill>
                <a:srgbClr val="8C8C8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460584" y="7061649"/>
            <a:ext cx="748248" cy="74824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4545"/>
            </a:solidFill>
            <a:ln w="9525" cap="sq">
              <a:solidFill>
                <a:srgbClr val="8C8C8C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2460734" y="8066734"/>
            <a:ext cx="4135087" cy="0"/>
          </a:xfrm>
          <a:prstGeom prst="line">
            <a:avLst/>
          </a:prstGeom>
          <a:ln cap="flat" w="38100">
            <a:solidFill>
              <a:srgbClr val="FFFFF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49917" y="8815710"/>
            <a:ext cx="618767" cy="885180"/>
          </a:xfrm>
          <a:custGeom>
            <a:avLst/>
            <a:gdLst/>
            <a:ahLst/>
            <a:cxnLst/>
            <a:rect r="r" b="b" t="t" l="l"/>
            <a:pathLst>
              <a:path h="885180" w="618767">
                <a:moveTo>
                  <a:pt x="0" y="0"/>
                </a:moveTo>
                <a:lnTo>
                  <a:pt x="618766" y="0"/>
                </a:lnTo>
                <a:lnTo>
                  <a:pt x="618766" y="885180"/>
                </a:lnTo>
                <a:lnTo>
                  <a:pt x="0" y="88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1643" t="-33653" r="-163021" b="-33326"/>
            </a:stretch>
          </a:blipFill>
        </p:spPr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3149984" y="4124333"/>
            <a:ext cx="5375028" cy="4375404"/>
          </a:xfrm>
          <a:prstGeom prst="rect">
            <a:avLst/>
          </a:prstGeom>
        </p:spPr>
      </p:pic>
      <p:sp>
        <p:nvSpPr>
          <p:cNvPr name="Freeform 16" id="16"/>
          <p:cNvSpPr/>
          <p:nvPr/>
        </p:nvSpPr>
        <p:spPr>
          <a:xfrm flipH="false" flipV="false" rot="0">
            <a:off x="1028700" y="8990889"/>
            <a:ext cx="442604" cy="421681"/>
          </a:xfrm>
          <a:custGeom>
            <a:avLst/>
            <a:gdLst/>
            <a:ahLst/>
            <a:cxnLst/>
            <a:rect r="r" b="b" t="t" l="l"/>
            <a:pathLst>
              <a:path h="421681" w="442604">
                <a:moveTo>
                  <a:pt x="0" y="0"/>
                </a:moveTo>
                <a:lnTo>
                  <a:pt x="442604" y="0"/>
                </a:lnTo>
                <a:lnTo>
                  <a:pt x="442604" y="421681"/>
                </a:lnTo>
                <a:lnTo>
                  <a:pt x="0" y="421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866775"/>
            <a:ext cx="1066078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LA COLECCIÓN KAS</a:t>
            </a:r>
            <a:r>
              <a:rPr lang="en-US" b="true" sz="900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72229" y="1306361"/>
            <a:ext cx="4523592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PALE</a:t>
            </a:r>
            <a:r>
              <a:rPr lang="en-US" sz="5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TA MINERAL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2652787"/>
            <a:ext cx="16230600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N</a:t>
            </a:r>
            <a:r>
              <a:rPr lang="en-US" sz="27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uestros colores no son pintura superficial. </a:t>
            </a: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Es el color del polímero fundido, lo que garantiza que no se descascara con el tiempo.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1304" y="9061133"/>
            <a:ext cx="466963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COLOR ESTRELLA: NEGRO GRAFITO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96248" y="4501725"/>
            <a:ext cx="2582662" cy="784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56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NEGRO GRAFITO</a:t>
            </a:r>
          </a:p>
          <a:p>
            <a:pPr algn="l">
              <a:lnSpc>
                <a:spcPts val="2776"/>
              </a:lnSpc>
            </a:pPr>
            <a:r>
              <a:rPr lang="en-US" sz="1983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Nuestra firma.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96248" y="5752102"/>
            <a:ext cx="2582662" cy="784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56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CAFÉ WENGUÉ</a:t>
            </a:r>
          </a:p>
          <a:p>
            <a:pPr algn="l">
              <a:lnSpc>
                <a:spcPts val="2776"/>
              </a:lnSpc>
            </a:pPr>
            <a:r>
              <a:rPr lang="en-US" sz="198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Calidez natural.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96248" y="7014024"/>
            <a:ext cx="2917595" cy="784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56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GRIS BASALTO</a:t>
            </a:r>
          </a:p>
          <a:p>
            <a:pPr algn="l">
              <a:lnSpc>
                <a:spcPts val="2776"/>
              </a:lnSpc>
            </a:pPr>
            <a:r>
              <a:rPr lang="en-US" sz="198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Arquitectura moderna.</a:t>
            </a:r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45248" y="6215115"/>
            <a:ext cx="822185" cy="548622"/>
          </a:xfrm>
          <a:custGeom>
            <a:avLst/>
            <a:gdLst/>
            <a:ahLst/>
            <a:cxnLst/>
            <a:rect r="r" b="b" t="t" l="l"/>
            <a:pathLst>
              <a:path h="548622" w="822185">
                <a:moveTo>
                  <a:pt x="0" y="0"/>
                </a:moveTo>
                <a:lnTo>
                  <a:pt x="822184" y="0"/>
                </a:lnTo>
                <a:lnTo>
                  <a:pt x="822184" y="548621"/>
                </a:lnTo>
                <a:lnTo>
                  <a:pt x="0" y="5486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49917" y="8815710"/>
            <a:ext cx="618767" cy="885180"/>
          </a:xfrm>
          <a:custGeom>
            <a:avLst/>
            <a:gdLst/>
            <a:ahLst/>
            <a:cxnLst/>
            <a:rect r="r" b="b" t="t" l="l"/>
            <a:pathLst>
              <a:path h="885180" w="618767">
                <a:moveTo>
                  <a:pt x="0" y="0"/>
                </a:moveTo>
                <a:lnTo>
                  <a:pt x="618766" y="0"/>
                </a:lnTo>
                <a:lnTo>
                  <a:pt x="618766" y="885180"/>
                </a:lnTo>
                <a:lnTo>
                  <a:pt x="0" y="8851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1643" t="-33653" r="-163021" b="-3332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41003" y="1644951"/>
            <a:ext cx="14815519" cy="8055939"/>
          </a:xfrm>
          <a:custGeom>
            <a:avLst/>
            <a:gdLst/>
            <a:ahLst/>
            <a:cxnLst/>
            <a:rect r="r" b="b" t="t" l="l"/>
            <a:pathLst>
              <a:path h="8055939" w="14815519">
                <a:moveTo>
                  <a:pt x="0" y="0"/>
                </a:moveTo>
                <a:lnTo>
                  <a:pt x="14815519" y="0"/>
                </a:lnTo>
                <a:lnTo>
                  <a:pt x="14815519" y="8055939"/>
                </a:lnTo>
                <a:lnTo>
                  <a:pt x="0" y="8055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39238" y="4874260"/>
            <a:ext cx="952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684017" y="866775"/>
            <a:ext cx="10929491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SISTEMA </a:t>
            </a:r>
            <a:r>
              <a:rPr lang="en-US" sz="9000" b="true">
                <a:solidFill>
                  <a:srgbClr val="C18A68"/>
                </a:solidFill>
                <a:latin typeface="Oswald Bold"/>
                <a:ea typeface="Oswald Bold"/>
                <a:cs typeface="Oswald Bold"/>
                <a:sym typeface="Oswald Bold"/>
              </a:rPr>
              <a:t>COTIZACIONES</a:t>
            </a: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43575" y="8520253"/>
            <a:ext cx="688072" cy="688072"/>
          </a:xfrm>
          <a:custGeom>
            <a:avLst/>
            <a:gdLst/>
            <a:ahLst/>
            <a:cxnLst/>
            <a:rect r="r" b="b" t="t" l="l"/>
            <a:pathLst>
              <a:path h="688072" w="688072">
                <a:moveTo>
                  <a:pt x="0" y="0"/>
                </a:moveTo>
                <a:lnTo>
                  <a:pt x="688072" y="0"/>
                </a:lnTo>
                <a:lnTo>
                  <a:pt x="688072" y="688071"/>
                </a:lnTo>
                <a:lnTo>
                  <a:pt x="0" y="6880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6854" y="8510577"/>
            <a:ext cx="746349" cy="746349"/>
          </a:xfrm>
          <a:custGeom>
            <a:avLst/>
            <a:gdLst/>
            <a:ahLst/>
            <a:cxnLst/>
            <a:rect r="r" b="b" t="t" l="l"/>
            <a:pathLst>
              <a:path h="746349" w="746349">
                <a:moveTo>
                  <a:pt x="0" y="0"/>
                </a:moveTo>
                <a:lnTo>
                  <a:pt x="746349" y="0"/>
                </a:lnTo>
                <a:lnTo>
                  <a:pt x="746349" y="746349"/>
                </a:lnTo>
                <a:lnTo>
                  <a:pt x="0" y="746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212446" y="6310186"/>
            <a:ext cx="3863109" cy="1274784"/>
            <a:chOff x="0" y="0"/>
            <a:chExt cx="589655" cy="1945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9655" cy="194580"/>
            </a:xfrm>
            <a:custGeom>
              <a:avLst/>
              <a:gdLst/>
              <a:ahLst/>
              <a:cxnLst/>
              <a:rect r="r" b="b" t="t" l="l"/>
              <a:pathLst>
                <a:path h="194580" w="589655">
                  <a:moveTo>
                    <a:pt x="74150" y="0"/>
                  </a:moveTo>
                  <a:lnTo>
                    <a:pt x="515505" y="0"/>
                  </a:lnTo>
                  <a:cubicBezTo>
                    <a:pt x="535171" y="0"/>
                    <a:pt x="554031" y="7812"/>
                    <a:pt x="567937" y="21718"/>
                  </a:cubicBezTo>
                  <a:cubicBezTo>
                    <a:pt x="581843" y="35624"/>
                    <a:pt x="589655" y="54484"/>
                    <a:pt x="589655" y="74150"/>
                  </a:cubicBezTo>
                  <a:lnTo>
                    <a:pt x="589655" y="120429"/>
                  </a:lnTo>
                  <a:cubicBezTo>
                    <a:pt x="589655" y="140095"/>
                    <a:pt x="581843" y="158956"/>
                    <a:pt x="567937" y="172862"/>
                  </a:cubicBezTo>
                  <a:cubicBezTo>
                    <a:pt x="554031" y="186768"/>
                    <a:pt x="535171" y="194580"/>
                    <a:pt x="515505" y="194580"/>
                  </a:cubicBezTo>
                  <a:lnTo>
                    <a:pt x="74150" y="194580"/>
                  </a:lnTo>
                  <a:cubicBezTo>
                    <a:pt x="54484" y="194580"/>
                    <a:pt x="35624" y="186768"/>
                    <a:pt x="21718" y="172862"/>
                  </a:cubicBezTo>
                  <a:cubicBezTo>
                    <a:pt x="7812" y="158956"/>
                    <a:pt x="0" y="140095"/>
                    <a:pt x="0" y="120429"/>
                  </a:cubicBezTo>
                  <a:lnTo>
                    <a:pt x="0" y="74150"/>
                  </a:lnTo>
                  <a:cubicBezTo>
                    <a:pt x="0" y="54484"/>
                    <a:pt x="7812" y="35624"/>
                    <a:pt x="21718" y="21718"/>
                  </a:cubicBezTo>
                  <a:cubicBezTo>
                    <a:pt x="35624" y="7812"/>
                    <a:pt x="54484" y="0"/>
                    <a:pt x="74150" y="0"/>
                  </a:cubicBezTo>
                  <a:close/>
                </a:path>
              </a:pathLst>
            </a:custGeom>
            <a:blipFill>
              <a:blip r:embed="rId6">
                <a:alphaModFix amt="74000"/>
              </a:blip>
              <a:stretch>
                <a:fillRect l="-6802" t="-55849" r="-4824" b="-182426"/>
              </a:stretch>
            </a:blipFill>
            <a:ln w="19050" cap="rnd">
              <a:solidFill>
                <a:srgbClr val="F4F4F4">
                  <a:alpha val="73725"/>
                </a:srgbClr>
              </a:soli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362351" y="8505304"/>
            <a:ext cx="2515379" cy="756897"/>
            <a:chOff x="0" y="0"/>
            <a:chExt cx="3353838" cy="100919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8575"/>
              <a:ext cx="3353838" cy="395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7"/>
                </a:lnSpc>
              </a:pPr>
              <a:r>
                <a:rPr lang="en-US" sz="2092" spc="-41" b="true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Teléfono móvil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19866"/>
              <a:ext cx="3353838" cy="389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7"/>
                </a:lnSpc>
              </a:pPr>
              <a:r>
                <a:rPr lang="en-US" sz="2092" spc="-41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+57 3054719267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59573" y="8485840"/>
            <a:ext cx="4068598" cy="756897"/>
            <a:chOff x="0" y="0"/>
            <a:chExt cx="5424797" cy="100919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8575"/>
              <a:ext cx="5424797" cy="395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7"/>
                </a:lnSpc>
              </a:pPr>
              <a:r>
                <a:rPr lang="en-US" sz="2092" spc="-41" b="true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Correo electrónico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19866"/>
              <a:ext cx="5424797" cy="389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7"/>
                </a:lnSpc>
              </a:pPr>
              <a:r>
                <a:rPr lang="en-US" sz="2092" spc="-41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kaston.proyectos@gmail.com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4938839"/>
            <a:ext cx="16230600" cy="44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2"/>
              </a:lnSpc>
            </a:pPr>
            <a:r>
              <a:rPr lang="en-US" sz="3200" spc="-64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Cotiza tu proyecto hoy y olvidate de cambiar el techo por 500 años.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443289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¿LISTO PARA BLINDAR TU HOGAR?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81590" y="6419309"/>
            <a:ext cx="332482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  <a:hlinkClick r:id="rId7" tooltip="https://wa.me/573054719267?text=Hola%2C%20quiero%20m%C3%A1s%20informaci%C3%B3n%20de%20Kaston"/>
              </a:rPr>
              <a:t>COTIZA AQUI</a:t>
            </a: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DAHBr6DbCPY</dc:identifier>
  <dcterms:modified xsi:type="dcterms:W3CDTF">2011-08-01T06:04:30Z</dcterms:modified>
  <cp:revision>1</cp:revision>
  <dc:title>Copia de KASTON</dc:title>
</cp:coreProperties>
</file>